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CC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4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F214D-1F76-F841-A2D3-D2CDEC99622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8F2629-DFF2-3040-B162-07C266238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57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8F2629-DFF2-3040-B162-07C266238A5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631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5F1C9-B1AB-F855-B7C7-009C7C5C6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607A0-2019-78E6-1507-1898C06ED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17C50-479A-6E50-7318-903343218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E3129-AD95-4720-18A4-1970BB3C8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D9CF2-6DBC-17C6-C6CC-DC4CA764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390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664BC-B0E4-6BE9-0BC0-E322ECA9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50573-3894-E57F-F1E2-5948D1A4E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7BE19-7617-8DE0-7786-6A032EAD1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22590-BAD6-A20A-C0C0-DFE8F3A6C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76FB8-C88D-17A0-0B19-1B5FA09A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21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FDAA7-2E61-785D-0964-1ED5E03A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9F672-4333-EE2F-ABED-60738A01D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A80E3-74CE-FAD5-774E-4E32F5A99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062FF-1233-E79C-E558-698B93F70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7F761-8DD7-2E05-600F-ACDD404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05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ED23-DBE7-C642-6654-2D23F0C1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C355B-C66C-0297-CC34-7F3C6728A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4521D0-1E26-4EF0-65F3-4CDA32FC79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4398F-8FB1-95B4-01DD-76509016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A6A2DB-5CC1-77C3-6A33-5DD26BB48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7D988-DB85-EA48-D58A-E5244015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14E1D-1911-4E67-9190-03B90D08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4AA0F-7463-4B39-B0B5-E6CADDFE9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5D7EC-8AF8-7331-8C52-2CF41B5BD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CD2B7-2CCC-2F8C-15C2-16A53AF9C5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93A4FA-3235-685E-1B8B-A916EF59A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D67578-26C9-01FE-3BBE-40794C159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08203-B4CC-8721-31EB-C73018CDF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9438B8-0795-3C75-1FC4-324D7A58A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50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75C58-AED8-DA00-0C54-36CEDA437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0A9E9-7A99-0311-8D85-21D6071B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7D185-8CCC-1368-8C69-54AD2DF3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2E928-75ED-22EF-41EB-FB755E8D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B7288-A85F-2FB7-F8D4-1012A5968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746B5-1D7D-F67F-97C0-5540DADE1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F500-4570-9185-1C56-5FFBC7E90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010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E91D-E1E0-8C0C-EDE4-69E072976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4617A-39D9-370A-9C6B-1FDA24C57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A875-BABB-8FC4-A134-C4CCED26E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117FD8-671B-6912-66C0-A547EB2B1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16DFF-ACB3-4B3E-5662-BDA22207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FBD037-3FDC-5544-7235-3F58D5099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70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7D84-B9A0-78A4-9253-4096D550A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2B048-F3A3-2CEE-ABBE-579CFFA064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35414-5E7C-4BAC-8759-BB541BF1A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88A92-3563-3A9F-FE2F-DA75C1956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30820-EF60-CE44-55DF-ED46FD2E3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CA88-CF58-2B0A-8289-5BB30813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64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16590-6271-2803-A035-D52C3F780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A7787-D928-0DA3-80B0-E84042E7C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DEA4-38A5-D0EB-0427-238CBCC01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9CA7E-994B-9E6B-7A1A-AB50B4FE9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BB67-758B-D302-49DA-BC0B3D544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16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A38E28-989D-DAAD-50CC-A3175F26D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37DB7-120C-F054-1C67-61430B95D9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BBC5B-25E5-D464-CC13-29B7E38A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F2997-EA85-F2A2-A1DB-46566DD7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7CCFB-461F-487F-95E2-0FC025816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06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359A2E-9408-617F-70AC-CD8CDE2ED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642EB-1150-C379-8B97-292262A50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47DE0-AAEF-B3C8-6734-3CC1564487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F38FF-858C-0643-98FD-89636F5F9C82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3AD55-FDFC-D7CD-40C7-7A4635DE8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0EE82-4242-2D63-7B68-2F0A17AAB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798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5B8313-1C51-B4B0-0816-63BA4195FA7D}"/>
              </a:ext>
            </a:extLst>
          </p:cNvPr>
          <p:cNvSpPr txBox="1"/>
          <p:nvPr/>
        </p:nvSpPr>
        <p:spPr>
          <a:xfrm>
            <a:off x="239485" y="304799"/>
            <a:ext cx="34333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Component Dynamics Overview </a:t>
            </a:r>
          </a:p>
          <a:p>
            <a:endParaRPr lang="en-US" dirty="0"/>
          </a:p>
          <a:p>
            <a:r>
              <a:rPr lang="en-US" sz="1200" dirty="0"/>
              <a:t>Health = condition (damage/ wear-tear) </a:t>
            </a:r>
          </a:p>
          <a:p>
            <a:r>
              <a:rPr lang="en-US" sz="1200" dirty="0"/>
              <a:t>Age = lifecycle progress (time-based)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D6C461-257F-3BFE-5A11-32F3A2549551}"/>
              </a:ext>
            </a:extLst>
          </p:cNvPr>
          <p:cNvSpPr txBox="1"/>
          <p:nvPr/>
        </p:nvSpPr>
        <p:spPr>
          <a:xfrm>
            <a:off x="446314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Health Damage Rate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E0173-CBDA-ED37-E453-4FCD35107969}"/>
              </a:ext>
            </a:extLst>
          </p:cNvPr>
          <p:cNvSpPr txBox="1"/>
          <p:nvPr/>
        </p:nvSpPr>
        <p:spPr>
          <a:xfrm>
            <a:off x="446314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BB6A38-4770-9478-8363-C85F06E08023}"/>
              </a:ext>
            </a:extLst>
          </p:cNvPr>
          <p:cNvSpPr txBox="1"/>
          <p:nvPr/>
        </p:nvSpPr>
        <p:spPr>
          <a:xfrm>
            <a:off x="446313" y="3898101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Energy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D8F818-D532-EC8C-32C5-52BC394D6D32}"/>
              </a:ext>
            </a:extLst>
          </p:cNvPr>
          <p:cNvSpPr txBox="1"/>
          <p:nvPr/>
        </p:nvSpPr>
        <p:spPr>
          <a:xfrm>
            <a:off x="3672797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Function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5A89B-C7C6-3E36-44F6-D70815EDDA35}"/>
              </a:ext>
            </a:extLst>
          </p:cNvPr>
          <p:cNvSpPr txBox="1"/>
          <p:nvPr/>
        </p:nvSpPr>
        <p:spPr>
          <a:xfrm>
            <a:off x="6601054" y="3226477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Age State (initialized at Nominal Age)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975C5-3B35-72BF-216E-795549C97391}"/>
              </a:ext>
            </a:extLst>
          </p:cNvPr>
          <p:cNvSpPr txBox="1"/>
          <p:nvPr/>
        </p:nvSpPr>
        <p:spPr>
          <a:xfrm>
            <a:off x="3672796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3DEDAB-BFF8-ED1F-AE70-CAF1B57D8150}"/>
              </a:ext>
            </a:extLst>
          </p:cNvPr>
          <p:cNvSpPr txBox="1"/>
          <p:nvPr/>
        </p:nvSpPr>
        <p:spPr>
          <a:xfrm>
            <a:off x="370726" y="6368535"/>
            <a:ext cx="2011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HS -&gt; Health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7195E-9AFF-FC5B-80FE-854DD664B853}"/>
              </a:ext>
            </a:extLst>
          </p:cNvPr>
          <p:cNvSpPr txBox="1"/>
          <p:nvPr/>
        </p:nvSpPr>
        <p:spPr>
          <a:xfrm>
            <a:off x="3672795" y="3909220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Function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D9A51-D683-0600-99EE-8F3A0A35CDA7}"/>
              </a:ext>
            </a:extLst>
          </p:cNvPr>
          <p:cNvSpPr txBox="1"/>
          <p:nvPr/>
        </p:nvSpPr>
        <p:spPr>
          <a:xfrm>
            <a:off x="6601054" y="3909220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Based Damage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3506-B028-D638-1B00-8CF1EC41D245}"/>
              </a:ext>
            </a:extLst>
          </p:cNvPr>
          <p:cNvSpPr txBox="1"/>
          <p:nvPr/>
        </p:nvSpPr>
        <p:spPr>
          <a:xfrm>
            <a:off x="3672794" y="1633873"/>
            <a:ext cx="73326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Functionality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8271884-07DF-B051-C30C-5607F83068DF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2733543" y="2739519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84A899-B0CF-F9C9-9CE4-D1F0444DB8B3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33543" y="3411143"/>
            <a:ext cx="9392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2D5CD8-AABE-7BBE-5D3B-CD0E674472DF}"/>
              </a:ext>
            </a:extLst>
          </p:cNvPr>
          <p:cNvCxnSpPr/>
          <p:nvPr/>
        </p:nvCxnSpPr>
        <p:spPr>
          <a:xfrm>
            <a:off x="2733541" y="4103914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F008D47-F883-3026-E4A8-E7F37F23A3C8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960024" y="4082142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C4C9949-8F88-709F-617C-C97DE8874557}"/>
              </a:ext>
            </a:extLst>
          </p:cNvPr>
          <p:cNvCxnSpPr>
            <a:cxnSpLocks/>
          </p:cNvCxnSpPr>
          <p:nvPr/>
        </p:nvCxnSpPr>
        <p:spPr>
          <a:xfrm>
            <a:off x="5960024" y="3417256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DB56ED-CDB8-ED1E-0411-A5138EF7F9E9}"/>
              </a:ext>
            </a:extLst>
          </p:cNvPr>
          <p:cNvCxnSpPr>
            <a:cxnSpLocks/>
          </p:cNvCxnSpPr>
          <p:nvPr/>
        </p:nvCxnSpPr>
        <p:spPr>
          <a:xfrm>
            <a:off x="5960024" y="2733497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CDB0CC3-3C2A-4828-D1C7-30C4A11C4FD1}"/>
              </a:ext>
            </a:extLst>
          </p:cNvPr>
          <p:cNvSpPr txBox="1"/>
          <p:nvPr/>
        </p:nvSpPr>
        <p:spPr>
          <a:xfrm>
            <a:off x="2797446" y="4967407"/>
            <a:ext cx="81144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Clock 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A50721FA-0451-DC4D-13EA-F1AF6A233DF5}"/>
              </a:ext>
            </a:extLst>
          </p:cNvPr>
          <p:cNvCxnSpPr>
            <a:stCxn id="29" idx="0"/>
            <a:endCxn id="11" idx="1"/>
          </p:cNvCxnSpPr>
          <p:nvPr/>
        </p:nvCxnSpPr>
        <p:spPr>
          <a:xfrm rot="5400000" flipH="1" flipV="1">
            <a:off x="2324037" y="3618649"/>
            <a:ext cx="2227888" cy="46962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6E58E938-A244-7AAD-B40B-DE2EE0BAB21A}"/>
              </a:ext>
            </a:extLst>
          </p:cNvPr>
          <p:cNvCxnSpPr>
            <a:cxnSpLocks/>
            <a:stCxn id="29" idx="0"/>
            <a:endCxn id="9" idx="1"/>
          </p:cNvCxnSpPr>
          <p:nvPr/>
        </p:nvCxnSpPr>
        <p:spPr>
          <a:xfrm rot="5400000" flipH="1" flipV="1">
            <a:off x="2659850" y="3954460"/>
            <a:ext cx="1556264" cy="4696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7ECEA970-DFFF-A90E-DA9A-52EB82AC603C}"/>
              </a:ext>
            </a:extLst>
          </p:cNvPr>
          <p:cNvCxnSpPr>
            <a:stCxn id="13" idx="3"/>
            <a:endCxn id="15" idx="3"/>
          </p:cNvCxnSpPr>
          <p:nvPr/>
        </p:nvCxnSpPr>
        <p:spPr>
          <a:xfrm>
            <a:off x="11005457" y="2739519"/>
            <a:ext cx="12700" cy="1354367"/>
          </a:xfrm>
          <a:prstGeom prst="bentConnector3">
            <a:avLst>
              <a:gd name="adj1" fmla="val 180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2DE66A6B-529A-A998-A887-B2FE92C9989F}"/>
              </a:ext>
            </a:extLst>
          </p:cNvPr>
          <p:cNvCxnSpPr>
            <a:stCxn id="13" idx="0"/>
            <a:endCxn id="16" idx="2"/>
          </p:cNvCxnSpPr>
          <p:nvPr/>
        </p:nvCxnSpPr>
        <p:spPr>
          <a:xfrm rot="16200000" flipV="1">
            <a:off x="7795367" y="1546964"/>
            <a:ext cx="551648" cy="14641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2E1AED2-074F-B2F2-625F-84CD2DCB9445}"/>
              </a:ext>
            </a:extLst>
          </p:cNvPr>
          <p:cNvCxnSpPr>
            <a:stCxn id="10" idx="0"/>
            <a:endCxn id="16" idx="2"/>
          </p:cNvCxnSpPr>
          <p:nvPr/>
        </p:nvCxnSpPr>
        <p:spPr>
          <a:xfrm rot="16200000" flipV="1">
            <a:off x="7459555" y="1882776"/>
            <a:ext cx="1223272" cy="1464130"/>
          </a:xfrm>
          <a:prstGeom prst="bentConnector3">
            <a:avLst>
              <a:gd name="adj1" fmla="val 99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B4CD91-45B4-C343-DB3D-FD2AE75C248E}"/>
              </a:ext>
            </a:extLst>
          </p:cNvPr>
          <p:cNvSpPr txBox="1"/>
          <p:nvPr/>
        </p:nvSpPr>
        <p:spPr>
          <a:xfrm>
            <a:off x="6601054" y="2554853"/>
            <a:ext cx="440440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(initialized at Nominal Health)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C286A1-0FB4-012E-E44B-50F564292BED}"/>
              </a:ext>
            </a:extLst>
          </p:cNvPr>
          <p:cNvSpPr txBox="1"/>
          <p:nvPr/>
        </p:nvSpPr>
        <p:spPr>
          <a:xfrm>
            <a:off x="11440886" y="6368535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3483772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7D9F39-8197-081B-A549-CF574EBC258C}"/>
              </a:ext>
            </a:extLst>
          </p:cNvPr>
          <p:cNvSpPr txBox="1"/>
          <p:nvPr/>
        </p:nvSpPr>
        <p:spPr>
          <a:xfrm>
            <a:off x="892629" y="1317171"/>
            <a:ext cx="2301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Physical Component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F3D70F-8E2B-BE77-AD79-2CB76195B515}"/>
              </a:ext>
            </a:extLst>
          </p:cNvPr>
          <p:cNvSpPr txBox="1"/>
          <p:nvPr/>
        </p:nvSpPr>
        <p:spPr>
          <a:xfrm>
            <a:off x="1399763" y="3386239"/>
            <a:ext cx="2409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Electrical Component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07B290-F50E-A476-FBB5-74C5DBE41A66}"/>
              </a:ext>
            </a:extLst>
          </p:cNvPr>
          <p:cNvSpPr txBox="1"/>
          <p:nvPr/>
        </p:nvSpPr>
        <p:spPr>
          <a:xfrm>
            <a:off x="4634633" y="2220685"/>
            <a:ext cx="213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Component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5F551-7F0D-97A7-62E2-92025C8120AE}"/>
              </a:ext>
            </a:extLst>
          </p:cNvPr>
          <p:cNvSpPr txBox="1"/>
          <p:nvPr/>
        </p:nvSpPr>
        <p:spPr>
          <a:xfrm>
            <a:off x="5127172" y="685800"/>
            <a:ext cx="2192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Operational Context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090F48E-BD16-A172-3C27-C42EAC36676E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2043201" y="1686503"/>
            <a:ext cx="561507" cy="1699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2F751C-0897-B619-2914-6648D98DA764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>
            <a:off x="3193772" y="1501837"/>
            <a:ext cx="2509327" cy="71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B8A8231-8D93-EF09-157F-9734825C4479}"/>
              </a:ext>
            </a:extLst>
          </p:cNvPr>
          <p:cNvCxnSpPr>
            <a:cxnSpLocks/>
            <a:stCxn id="3" idx="3"/>
            <a:endCxn id="5" idx="2"/>
          </p:cNvCxnSpPr>
          <p:nvPr/>
        </p:nvCxnSpPr>
        <p:spPr>
          <a:xfrm flipV="1">
            <a:off x="3809653" y="2590017"/>
            <a:ext cx="1893446" cy="980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AAC402-0D82-7543-F0D6-2EF8D43AF816}"/>
              </a:ext>
            </a:extLst>
          </p:cNvPr>
          <p:cNvCxnSpPr>
            <a:cxnSpLocks/>
            <a:stCxn id="6" idx="1"/>
            <a:endCxn id="2" idx="0"/>
          </p:cNvCxnSpPr>
          <p:nvPr/>
        </p:nvCxnSpPr>
        <p:spPr>
          <a:xfrm flipH="1">
            <a:off x="2043201" y="870466"/>
            <a:ext cx="3083971" cy="4467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A108AB-20BA-8BAC-70B9-68B65053FB37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5703099" y="1055132"/>
            <a:ext cx="520335" cy="11655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7DC8405-AE5C-434E-AF3F-8EE000F1557A}"/>
              </a:ext>
            </a:extLst>
          </p:cNvPr>
          <p:cNvCxnSpPr>
            <a:cxnSpLocks/>
            <a:stCxn id="6" idx="2"/>
            <a:endCxn id="3" idx="0"/>
          </p:cNvCxnSpPr>
          <p:nvPr/>
        </p:nvCxnSpPr>
        <p:spPr>
          <a:xfrm flipH="1">
            <a:off x="2604708" y="1055132"/>
            <a:ext cx="3618726" cy="2331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5511CD3-68DE-B896-00E1-3554E50BBE3C}"/>
              </a:ext>
            </a:extLst>
          </p:cNvPr>
          <p:cNvSpPr txBox="1"/>
          <p:nvPr/>
        </p:nvSpPr>
        <p:spPr>
          <a:xfrm>
            <a:off x="105513" y="4716195"/>
            <a:ext cx="24756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Electrical Component: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Status </a:t>
            </a:r>
          </a:p>
          <a:p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E6AD107-AF82-DADA-B9E0-A209B2627AB2}"/>
              </a:ext>
            </a:extLst>
          </p:cNvPr>
          <p:cNvSpPr txBox="1"/>
          <p:nvPr/>
        </p:nvSpPr>
        <p:spPr>
          <a:xfrm>
            <a:off x="3335844" y="4716195"/>
            <a:ext cx="20904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Component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Initial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Charge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Discharge Rate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ABE2E0C-2E02-B485-5A84-D11E8BA711A8}"/>
              </a:ext>
            </a:extLst>
          </p:cNvPr>
          <p:cNvSpPr txBox="1"/>
          <p:nvPr/>
        </p:nvSpPr>
        <p:spPr>
          <a:xfrm>
            <a:off x="6732709" y="4716195"/>
            <a:ext cx="219252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Operational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Charge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Discharge Rate </a:t>
            </a:r>
          </a:p>
          <a:p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F31D8E-88A5-2B66-A9CC-6A525B193ECD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398408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6B47806-8DD3-D6EF-52BC-51985F431706}"/>
                  </a:ext>
                </a:extLst>
              </p:cNvPr>
              <p:cNvSpPr/>
              <p:nvPr/>
            </p:nvSpPr>
            <p:spPr>
              <a:xfrm>
                <a:off x="7059735" y="3918857"/>
                <a:ext cx="1475014" cy="1475014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𝐵𝑎𝑡𝑡𝑒𝑟𝑦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6B47806-8DD3-D6EF-52BC-51985F4317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735" y="3918857"/>
                <a:ext cx="1475014" cy="147501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602610C-48C6-9A7F-6764-3DF54170D940}"/>
                  </a:ext>
                </a:extLst>
              </p:cNvPr>
              <p:cNvSpPr/>
              <p:nvPr/>
            </p:nvSpPr>
            <p:spPr>
              <a:xfrm>
                <a:off x="9034843" y="2151101"/>
                <a:ext cx="1475014" cy="1475014"/>
              </a:xfrm>
              <a:prstGeom prst="ellipse">
                <a:avLst/>
              </a:prstGeom>
              <a:solidFill>
                <a:srgbClr val="9BCCF7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𝑝𝑟𝑜𝑣𝑖𝑑𝑒𝑠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𝑐h𝑎𝑟𝑔𝑒</m:t>
                              </m:r>
                            </m:e>
                          </m:eqAr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602610C-48C6-9A7F-6764-3DF54170D9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4843" y="2151101"/>
                <a:ext cx="1475014" cy="147501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B9EF884-8B3D-F4A9-6A30-CAC5D0667234}"/>
                  </a:ext>
                </a:extLst>
              </p:cNvPr>
              <p:cNvSpPr/>
              <p:nvPr/>
            </p:nvSpPr>
            <p:spPr>
              <a:xfrm>
                <a:off x="4448435" y="3940237"/>
                <a:ext cx="1475014" cy="147501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𝑏𝑎𝑡𝑡𝑒𝑟𝑦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B9EF884-8B3D-F4A9-6A30-CAC5D06672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8435" y="3940237"/>
                <a:ext cx="1475014" cy="147501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C029B68-B306-4DBE-1369-750AA06186EC}"/>
                  </a:ext>
                </a:extLst>
              </p:cNvPr>
              <p:cNvSpPr/>
              <p:nvPr/>
            </p:nvSpPr>
            <p:spPr>
              <a:xfrm>
                <a:off x="8933528" y="5252217"/>
                <a:ext cx="1475014" cy="147501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𝑏𝑎𝑡𝑡𝑒𝑟𝑦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C029B68-B306-4DBE-1369-750AA06186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528" y="5252217"/>
                <a:ext cx="1475014" cy="147501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599C2D-7487-F199-EC96-17CF6E322C91}"/>
              </a:ext>
            </a:extLst>
          </p:cNvPr>
          <p:cNvCxnSpPr/>
          <p:nvPr/>
        </p:nvCxnSpPr>
        <p:spPr>
          <a:xfrm flipV="1">
            <a:off x="8318738" y="3410104"/>
            <a:ext cx="932116" cy="724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44DF66-BB3C-BA03-3535-92191DACDB4B}"/>
              </a:ext>
            </a:extLst>
          </p:cNvPr>
          <p:cNvCxnSpPr>
            <a:cxnSpLocks/>
          </p:cNvCxnSpPr>
          <p:nvPr/>
        </p:nvCxnSpPr>
        <p:spPr>
          <a:xfrm flipH="1">
            <a:off x="5923449" y="4656364"/>
            <a:ext cx="1136286" cy="21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2F613A-8543-3F7A-5276-8147085FA0AA}"/>
              </a:ext>
            </a:extLst>
          </p:cNvPr>
          <p:cNvCxnSpPr>
            <a:cxnSpLocks/>
          </p:cNvCxnSpPr>
          <p:nvPr/>
        </p:nvCxnSpPr>
        <p:spPr>
          <a:xfrm flipV="1">
            <a:off x="5707438" y="2888608"/>
            <a:ext cx="3327405" cy="1267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6DCEF7-E600-F3DF-FED0-1C3757FC6585}"/>
              </a:ext>
            </a:extLst>
          </p:cNvPr>
          <p:cNvCxnSpPr>
            <a:cxnSpLocks/>
          </p:cNvCxnSpPr>
          <p:nvPr/>
        </p:nvCxnSpPr>
        <p:spPr>
          <a:xfrm>
            <a:off x="8318738" y="5177860"/>
            <a:ext cx="830801" cy="290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BBC5-7015-BEDB-BB38-7D6FA15C062A}"/>
              </a:ext>
            </a:extLst>
          </p:cNvPr>
          <p:cNvCxnSpPr>
            <a:cxnSpLocks/>
          </p:cNvCxnSpPr>
          <p:nvPr/>
        </p:nvCxnSpPr>
        <p:spPr>
          <a:xfrm flipV="1">
            <a:off x="9671035" y="3626115"/>
            <a:ext cx="101315" cy="1626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997330-C90B-E474-A861-D9272D2E4F07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3639069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92</Words>
  <Application>Microsoft Macintosh PowerPoint</Application>
  <PresentationFormat>Widescreen</PresentationFormat>
  <Paragraphs>38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Rashi Jain</dc:creator>
  <cp:lastModifiedBy>Rashi Jain</cp:lastModifiedBy>
  <cp:revision>5</cp:revision>
  <dcterms:created xsi:type="dcterms:W3CDTF">2025-08-08T23:13:29Z</dcterms:created>
  <dcterms:modified xsi:type="dcterms:W3CDTF">2025-08-11T22:04:59Z</dcterms:modified>
</cp:coreProperties>
</file>